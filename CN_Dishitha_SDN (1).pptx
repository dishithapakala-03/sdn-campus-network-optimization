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66153"/>
  </p:normalViewPr>
  <p:slideViewPr>
    <p:cSldViewPr snapToGrid="0" snapToObjects="1">
      <p:cViewPr varScale="1">
        <p:scale>
          <a:sx n="75" d="100"/>
          <a:sy n="75" d="100"/>
        </p:scale>
        <p:origin x="18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219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0" y="182879"/>
            <a:ext cx="1463040" cy="1463040"/>
          </a:xfrm>
          <a:prstGeom prst="ellipse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0" y="4480560"/>
            <a:ext cx="1097280" cy="1097280"/>
          </a:xfrm>
          <a:prstGeom prst="ellipse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5212079"/>
            <a:ext cx="731520" cy="731520"/>
          </a:xfrm>
          <a:prstGeom prst="ellipse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00584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Enhanced SDN Controller 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00B4D8"/>
                </a:solidFill>
              </a:rPr>
              <a:t>&amp; Dynamic Load Balancing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BCCFF"/>
                </a:solidFill>
              </a:rPr>
              <a:t>for Campus Network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ADD"/>
                </a:solidFill>
              </a:rPr>
              <a:t>Using K-Median Clustering and Dynamic Weighted Round Robin (DWRR)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493008"/>
            <a:ext cx="50292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6400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Dishitha Pakala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Kennesaw State University  ·  MS in Computer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Computer Networks Course  ·  Spring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83480"/>
            <a:ext cx="1508760" cy="31089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0017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Mininet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4983480"/>
            <a:ext cx="1508760" cy="31089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51760" y="50017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Ryu SDN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983480"/>
            <a:ext cx="1508760" cy="31089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50017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K-Median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983480"/>
            <a:ext cx="1508760" cy="31089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50017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DWRR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4983480"/>
            <a:ext cx="1508760" cy="31089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80" y="50017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OpenFlow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 — What We'll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749039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475488" cy="1691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" y="1664207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1097280"/>
            <a:ext cx="3273552" cy="36576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14300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Abstract &amp;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55448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The problem, context, and 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097280"/>
            <a:ext cx="3749039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0248" y="1097280"/>
            <a:ext cx="475488" cy="1691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1664207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5736" y="1097280"/>
            <a:ext cx="3273552" cy="36576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114300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155448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Specific gaps this project addresses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097280"/>
            <a:ext cx="3749039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0456" y="1097280"/>
            <a:ext cx="475488" cy="1691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664207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95944" y="1097280"/>
            <a:ext cx="3273552" cy="36576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87384" y="114300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155448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16+ papers and what they're missing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07791"/>
            <a:ext cx="3749039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907791"/>
            <a:ext cx="475488" cy="1691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9184" y="3474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" y="2907791"/>
            <a:ext cx="3273552" cy="36576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2953511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Proposed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364991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System design and component overview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2907791"/>
            <a:ext cx="3749039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70248" y="2907791"/>
            <a:ext cx="475488" cy="1691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79392" y="3474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45736" y="2907791"/>
            <a:ext cx="3273552" cy="36576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37176" y="2953511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6" y="3364991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Step-by-step research pipeline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2907791"/>
            <a:ext cx="3749039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0456" y="2907791"/>
            <a:ext cx="475488" cy="1691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3474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95944" y="2907791"/>
            <a:ext cx="3273552" cy="36576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87384" y="2953511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Algorithms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7384" y="3364991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K-Median Clustering + DWRR deep dive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718304"/>
            <a:ext cx="3749039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4718304"/>
            <a:ext cx="475488" cy="1691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9184" y="52852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" y="4718304"/>
            <a:ext cx="3273552" cy="36576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6968" y="47640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5175504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Baseline vs. Optimized setup in Mininet + Ryu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70248" y="4718304"/>
            <a:ext cx="3749039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70248" y="4718304"/>
            <a:ext cx="475488" cy="1691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79392" y="52852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45736" y="4718304"/>
            <a:ext cx="3273552" cy="36576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37176" y="47640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Results &amp;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37176" y="5175504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Performance metrics, tables, and charts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0456" y="4718304"/>
            <a:ext cx="3749039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20456" y="4718304"/>
            <a:ext cx="475488" cy="1691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600" y="52852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95944" y="4718304"/>
            <a:ext cx="3273552" cy="36576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787384" y="47640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87384" y="5175504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Key takeaways and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4887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Large campus networks face high latency, poor load distribution, and inefficient controller placement under traditional SDN setups. This project proposes a dual-layer optimization framework: K-Median Clustering for strategic controller placement, and Dynamic Weighted Round Robin (DWRR) for real-time load balancing — implemented using Ryu SDN controller and Mininet emulation on a realistic 3-tier campus topology.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33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Key Results Achieved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926080"/>
            <a:ext cx="2788920" cy="19202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926080"/>
            <a:ext cx="2788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303580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⬇ 94.7%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7033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Latency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416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4.071 ms → 0.215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7832" y="2926080"/>
            <a:ext cx="2788920" cy="19202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27832" y="2926080"/>
            <a:ext cx="2788920" cy="54864"/>
          </a:xfrm>
          <a:prstGeom prst="rect">
            <a:avLst/>
          </a:prstGeom>
          <a:solidFill>
            <a:srgbClr val="00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27832" y="303580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955"/>
                </a:solidFill>
              </a:rPr>
              <a:t>⬆ 144%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7033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Throughput 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40416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38.3 Mbps → 93.6 Mbps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2926080"/>
            <a:ext cx="2788920" cy="19202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35624" y="2926080"/>
            <a:ext cx="2788920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35624" y="303580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4D9"/>
                </a:solidFill>
              </a:rPr>
              <a:t>⬆ 10×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37033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Packet Rate 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416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0.059 → 0.59 pkt/s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3416" y="2926080"/>
            <a:ext cx="2788920" cy="19202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43416" y="2926080"/>
            <a:ext cx="27889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43416" y="303580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⬆ 17×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37033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Packet 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3416" y="40416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26 → 443 packets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98348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1">
                <a:solidFill>
                  <a:srgbClr val="0A356A"/>
                </a:solidFill>
              </a:rPr>
              <a:t>Keywords: SDN · Controller Placement · Load Balancing · K-Median · DWRR · Campus Network · Mininet · Ryu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Introduction — Why Campus Networks Need SDN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577840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577840" cy="347472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15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Campus Network Demands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</a:rPr>
              <a:t>◆  Seamless high-speed Wi-Fi for 10,000+ 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</a:rPr>
              <a:t>◆  Real-time research data transfers (HPC/labs)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</a:rPr>
              <a:t>◆  HD video streaming for smart classrooms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1129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</a:rPr>
              <a:t>◆  IoT sensors across buildings &amp;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9663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</a:rPr>
              <a:t>◆  24/7 uptime for academic 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864608"/>
            <a:ext cx="557784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48920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Traditional Networks FAIL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5257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44455"/>
                </a:solidFill>
              </a:rPr>
              <a:t>Rigid config · High latency · No centralized intelligence · Manual reconfiguration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078992"/>
            <a:ext cx="5760720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078992"/>
            <a:ext cx="57607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111556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SDN: The Solution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536192"/>
            <a:ext cx="5577840" cy="749808"/>
          </a:xfrm>
          <a:prstGeom prst="rect">
            <a:avLst/>
          </a:prstGeom>
          <a:solidFill>
            <a:srgbClr val="F0F6FF"/>
          </a:solidFill>
          <a:ln w="762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1572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Control Plane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837943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Separated from data plane → centralized, programmable network intelligence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359152"/>
            <a:ext cx="5577840" cy="749808"/>
          </a:xfrm>
          <a:prstGeom prst="rect">
            <a:avLst/>
          </a:prstGeom>
          <a:solidFill>
            <a:srgbClr val="F0F6FF"/>
          </a:solidFill>
          <a:ln w="762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2395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OpenFlow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660904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Real-time communication between controller and switches for dynamic flow rules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182112"/>
            <a:ext cx="5577840" cy="749808"/>
          </a:xfrm>
          <a:prstGeom prst="rect">
            <a:avLst/>
          </a:prstGeom>
          <a:solidFill>
            <a:srgbClr val="F0F6FF"/>
          </a:solidFill>
          <a:ln w="762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3218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Ryu 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483864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Python-based SDN framework — runs our DWRR load balancing application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005072"/>
            <a:ext cx="5577840" cy="749808"/>
          </a:xfrm>
          <a:prstGeom prst="rect">
            <a:avLst/>
          </a:prstGeom>
          <a:solidFill>
            <a:srgbClr val="F0F6FF"/>
          </a:solidFill>
          <a:ln w="762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91072" y="40416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Mininet Emulation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4306824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Realistic virtual campus topology with OVS switches, hosts, and controllers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828032"/>
            <a:ext cx="5577840" cy="749808"/>
          </a:xfrm>
          <a:prstGeom prst="rect">
            <a:avLst/>
          </a:prstGeom>
          <a:solidFill>
            <a:srgbClr val="F0F6FF"/>
          </a:solidFill>
          <a:ln w="762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91072" y="4864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Our Contribution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5129784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K-Median placement + DWRR balancing = campus-optimized SDN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568756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568756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⚠  Misplaced Controllers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72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Controllers placed without topology 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02996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Switches far from controllers → high RTT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4871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Default placement ignores traffic distribution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9443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Baseline measured: 4.071 ms average RTT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15568"/>
            <a:ext cx="568756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115568"/>
            <a:ext cx="568756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⚠  Inefficient Load Balancing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572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Static round-robin ignores server capacity differences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02996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Traffic hotspots form during peak campus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4871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No real-time adaptation to changing traffic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9443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Baseline throughput capped at just 38.3 Mbps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66160"/>
            <a:ext cx="568756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566160"/>
            <a:ext cx="5687568" cy="3657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" y="36027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⚠  Campus-Specific Blind Spot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40233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Existing SDN solutions target generic/data-center environments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480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No integrated placement + balancing framework for campus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937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Academic traffic: bursty, time-varying, multi-modal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394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IoT devices + streaming + research = unique challenge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566160"/>
            <a:ext cx="568756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3566160"/>
            <a:ext cx="5687568" cy="3657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36027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⚠  Scalability &amp; QoS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0233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Packet rate of only 0.059 pkt/s under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4480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Throughput cannot scale with growing device 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1" y="4937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Students, staff, and research workflows all impacted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5394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44455"/>
                </a:solidFill>
              </a:rPr>
              <a:t>▸  No fault-tolerance or redundancy mechanism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17220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6B35"/>
                </a:solidFill>
              </a:rPr>
              <a:t>Impact: Degraded academic performance · Research delays · Poor user experience across entire campus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48872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4864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097280"/>
            <a:ext cx="2377440" cy="100584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188720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Design Realistic Campus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70432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Build a 3-tier hierarchical network (Core → Distribution → Access) in Mininet with 10 OVS switches and 8 hosts — mirroring a real university campus infrastructure.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85415"/>
            <a:ext cx="11548872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185415"/>
            <a:ext cx="54864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441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185415"/>
            <a:ext cx="2377440" cy="100584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276856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Optimal Controller 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58568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Apply K-Median Clustering on the latency distance matrix to mathematically determine the optimal 2 controller positions that minimize total switch-to-controller communication delay.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73552"/>
            <a:ext cx="11548872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273552"/>
            <a:ext cx="54864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52958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73552"/>
            <a:ext cx="2377440" cy="100584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36499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Implement DWRR Load Balancing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346704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Develop a Dynamic Weighted Round Robin load balancer as a Ryu SDN application that assigns link weights inversely proportional to real-time utilization via OpenFlow statistics.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61688"/>
            <a:ext cx="11548872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361688"/>
            <a:ext cx="54864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361688"/>
            <a:ext cx="2377440" cy="100584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453127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Controlled Performance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434840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Run identical traffic tests (ping, iperf, ovs-ofctl) on both baseline (default controllers) and optimized (SDN + DWRR) network under the exact same conditions for fair benchmarking.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449824"/>
            <a:ext cx="11548872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5449824"/>
            <a:ext cx="54864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57058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449824"/>
            <a:ext cx="2377440" cy="100584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5541264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Prove Measurable Improvement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522976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Quantify improvements across 6 metrics: latency, throughput, packet count, byte count, flow duration, and packet rate — demonstrating real-world benefit of the integrated approach.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Literature Review — Prior Art (16+ Papers)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A356A"/>
                </a:solidFill>
              </a:rPr>
              <a:t>Comprehensive review spanning SDN load balancing · controller placement · IoT integration · QoS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6692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4864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" y="13716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[1] Belgaum et al., IEEE Access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1664207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Systematic review of SDN LB strategies. Focuses on QoS metrics (delay, jitter, packet loss). Identifies AI gaps in load balancing classification.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6692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4864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3716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[2] Ouamri et al., ISETC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664207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Deep RL for SD-WAN load balancing with CPE devices. Introduces MADQN for multi-agent balancing. Gap: focused only on WAN, not campus.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79191"/>
            <a:ext cx="56692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679191"/>
            <a:ext cx="54864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" y="272491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[4] Multi-Controller Survey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301752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Static vs. dynamic controller placement analysis. Uses spectral clustering &amp; PSO. Gap: lacks real-time adaptive mechanisms.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679191"/>
            <a:ext cx="56692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679191"/>
            <a:ext cx="54864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72491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[6] DASM — Li et 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01752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Hungarian algorithm + Nash equilibrium for controller-switch association. Bi-objective optimization. Gap: simulation-only, no campus topology.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32504"/>
            <a:ext cx="56692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4032504"/>
            <a:ext cx="54864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" y="4078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[9] K-Means++ — N.H et al.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" y="437083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Silhouette score + meeting-point for placement. Tested on Internet Zoo topologies. Gap: K-Means uses centroids not real nodes.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32504"/>
            <a:ext cx="56692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032504"/>
            <a:ext cx="54864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9944" y="4078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[10] dSDN — Aakanksha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437083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Dynamic controller mapping for IoT. Eliminates load imbalance in bursty traffic. Gap: only homogeneous IoT networks tested.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385816"/>
            <a:ext cx="56692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5385816"/>
            <a:ext cx="54864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" y="54315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[14] IoT SDN Enhancement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" y="572414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Placement + balancing + delay min for IoT. Gap: wireless IoT focus, not campus hierarchy.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385816"/>
            <a:ext cx="56692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5385816"/>
            <a:ext cx="54864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9944" y="54315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[15] Hybrid LB Algorithms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572414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Rule-based, dynamic, hybrid RR algorithms. Hybrid outperforms standard for TCP. Gap: ignores multi-layer SDN topology effects.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Gaps vs. Our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57784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57784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✗  What Existing Work Is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3300"/>
                </a:solidFill>
              </a:rPr>
              <a:t>✗  No integrated placement + load balancing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12264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3300"/>
                </a:solidFill>
              </a:rPr>
              <a:t>✗  Campus-specific topology never modeled or addressed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3300"/>
                </a:solidFill>
              </a:rPr>
              <a:t>✗  Static/non-adaptive algorithms assume fixed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91256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3300"/>
                </a:solidFill>
              </a:rPr>
              <a:t>✗  No controlled baseline vs. optimized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30752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3300"/>
                </a:solidFill>
              </a:rPr>
              <a:t>✗  K-Means uses artificial centroids, not real switch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70248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3300"/>
                </a:solidFill>
              </a:rPr>
              <a:t>✗  Real-time OpenFlow stats rarely used for weighting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09744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3300"/>
                </a:solidFill>
              </a:rPr>
              <a:t>✗  Fault tolerance ignored in placement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49240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3300"/>
                </a:solidFill>
              </a:rPr>
              <a:t>✗  Bursty academic traffic patterns not modeled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078992"/>
            <a:ext cx="576072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078992"/>
            <a:ext cx="5760720" cy="365760"/>
          </a:xfrm>
          <a:prstGeom prst="rect">
            <a:avLst/>
          </a:prstGeom>
          <a:solidFill>
            <a:srgbClr val="00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111556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✔  Our Novel Contributions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57276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009955"/>
                </a:solidFill>
              </a:rPr>
              <a:t>✔  K-Median + DWRR unified optimization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12264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009955"/>
                </a:solidFill>
              </a:rPr>
              <a:t>✔  Realistic 3-tier campus topology (10 switches, 8 hosts)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009955"/>
                </a:solidFill>
              </a:rPr>
              <a:t>✔  K-Median places controllers on REAL network nodes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19125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009955"/>
                </a:solidFill>
              </a:rPr>
              <a:t>✔  DWRR uses live OpenFlow stats for dynamic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3075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009955"/>
                </a:solidFill>
              </a:rPr>
              <a:t>✔  Explicit controlled experiment: baseline vs. optimized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27024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009955"/>
                </a:solidFill>
              </a:rPr>
              <a:t>✔  6 comprehensive metrics measured and compared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09744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009955"/>
                </a:solidFill>
              </a:rPr>
              <a:t>✔  94.7% latency &amp; 144% throughput improvement proven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34924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009955"/>
                </a:solidFill>
              </a:rPr>
              <a:t>✔  Production stack: Mininet + Ryu + OpenFlow 1.3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Proposed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3657600" cy="53492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170432"/>
            <a:ext cx="3511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B4D8"/>
                </a:solidFill>
              </a:rPr>
              <a:t>APPLICATION PLANE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536192"/>
            <a:ext cx="3474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64591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K-Median Clustering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95727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Python / scikit-learn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145535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NetworkX latency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89534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Optimal placement: dist1 &amp; dist3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464515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Controller position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7" y="1078992"/>
            <a:ext cx="4114800" cy="534924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1170432"/>
            <a:ext cx="3968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B4D8"/>
                </a:solidFill>
              </a:rPr>
              <a:t>CONTROL PLANE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7" y="1536192"/>
            <a:ext cx="39319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79" y="1645919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Ryu SDN Controller (×2)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395727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DWRR Load Balancer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3145535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OpenFlow 1.3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3895344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Flow Rule Installer (OFPFlowMod)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4645152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Real-time Stats Collector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5394959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Ports: 6633 (c1) &amp; 6634 (c2)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94192" y="1078992"/>
            <a:ext cx="3474720" cy="5349240"/>
          </a:xfrm>
          <a:prstGeom prst="rect">
            <a:avLst/>
          </a:prstGeom>
          <a:solidFill>
            <a:srgbClr val="03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1170432"/>
            <a:ext cx="3328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B4D8"/>
                </a:solidFill>
              </a:rPr>
              <a:t>DATA PLANE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85632" y="1536192"/>
            <a:ext cx="3291839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58784" y="1645919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core1, core2 (Core Layer)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2395727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dist1*, dist2, dist3*, dist4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3145535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acc1, acc2, acc3, acc4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8784" y="3895344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Hosts: h1–h8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464515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Mininet OVS Virtual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5394959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◆  * = Controller-hosting switch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2560320"/>
            <a:ext cx="1371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77639" y="3474720"/>
            <a:ext cx="1371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77639" y="4389120"/>
            <a:ext cx="1371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977639" y="5303520"/>
            <a:ext cx="1371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0" y="2560320"/>
            <a:ext cx="1371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3474720"/>
            <a:ext cx="1371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4389120"/>
            <a:ext cx="1371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9600" y="5303520"/>
            <a:ext cx="1371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6492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0B4D8"/>
                </a:solidFill>
              </a:rPr>
              <a:t>← K-Median Output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3087" y="6492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0B4D8"/>
                </a:solidFill>
              </a:rPr>
              <a:t>← OpenFlow Protocol 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675120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A356A"/>
                </a:solidFill>
              </a:rPr>
              <a:t>[Fig 1: System Architecture — Recreated from paper]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Methodology — Research Pipeline (Fig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0352" cy="24231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" y="196596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" y="1097280"/>
            <a:ext cx="3218688" cy="38404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14300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Baseline Campus Topology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Build 3-tier Mininet topology (base_campus_topology1.py)
2 default controllers · 10 switches · 8 hosts
Measure: latency (ping), throughput (iperf), flow stats (ovs-ofctl)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2103120"/>
            <a:ext cx="36576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33087" y="19659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097280"/>
            <a:ext cx="3749039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1097280"/>
            <a:ext cx="530352" cy="24231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9663" y="196596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STEP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0872" y="1097280"/>
            <a:ext cx="3218688" cy="38404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114300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K-Median Clustering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572768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Run controller_placement.py on switch graph
Compute shortest-path latency matrix (NetworkX)
K=2 → optimal controllers identified: dist1 &amp; dist3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7848" y="2103120"/>
            <a:ext cx="36576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9288" y="19659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097280"/>
            <a:ext cx="3749039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1097280"/>
            <a:ext cx="530352" cy="24231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55864" y="196596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STEP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77072" y="1097280"/>
            <a:ext cx="3218688" cy="38404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0" y="114300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Deploy Optimized Topology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572768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Run campus_topology_with_controllers.py
Bind Ryu c1→dist1:6633 · c2→dist3:6634
Validate: net.pingAll() → 0% packet loss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39311"/>
            <a:ext cx="3749039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3639311"/>
            <a:ext cx="530352" cy="24231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" y="4507992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STEP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1" y="3639311"/>
            <a:ext cx="3218688" cy="38404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685031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Activate DWRR Load Balancer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Launch dynamic_load_balancer.py on both ports
Proactive flow rules installed at switch connect
Reactive DWRR for unmatched traffic flows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41648" y="4645152"/>
            <a:ext cx="36576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33087" y="450799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639311"/>
            <a:ext cx="3749039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60520" y="3639311"/>
            <a:ext cx="530352" cy="24231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69663" y="4507992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STEP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90872" y="3639311"/>
            <a:ext cx="3218688" cy="38404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0600" y="3685031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Performance Measurement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Identical tests on both baseline and optimized
ping -c 10 h1→h2 · iperf server/client · ovs-ofctl
Record: RTT, Mbps, packet count, byte 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7848" y="4645152"/>
            <a:ext cx="36576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19288" y="450799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639311"/>
            <a:ext cx="3749039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46720" y="3639311"/>
            <a:ext cx="530352" cy="24231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55864" y="4507992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STEP 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77072" y="3639311"/>
            <a:ext cx="3218688" cy="38404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0" y="3685031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Comparative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Plot bar charts: latency &amp; throughput
Tabulate all 6 metrics baseline vs SDN+DWRR
Validate against literature benchmarks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67512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A356A"/>
                </a:solidFill>
              </a:rPr>
              <a:t>[Fig 2: Methodology Flowchart]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Algorithm 1 — K-Median Clustering for Controller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349240" cy="53492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2471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ALGORITHM 1 — K-Median Clustering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44752"/>
            <a:ext cx="5166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i="0">
                <a:solidFill>
                  <a:srgbClr val="00B4D8"/>
                </a:solidFill>
              </a:rPr>
              <a:t>INPUT: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69363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G = (switches, links, weights)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7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Latency matrix M[i][j] via NetworkX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9057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k = 2 controllers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81178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1.  Initialize k centers randomly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7238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2.  REPEAT: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329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3.    FOR each switch 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9359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4.      Assign s → nearest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5419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      (min Euclidean dist in latency-space)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5.    Recalculate each center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7540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      median of its cluster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3600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6.  UNTIL centers converge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661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15721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7.  Map each center → nearest real node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1782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      (controller must be ON a switch)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7842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8.  RETURN controller positions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3902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19963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i="0">
                <a:solidFill>
                  <a:srgbClr val="00B4D8"/>
                </a:solidFill>
              </a:rPr>
              <a:t>OUTPUT:  dist1 &amp; dist3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1078992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Why K-Median? Technical Rationale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1481328"/>
            <a:ext cx="6035040" cy="886968"/>
          </a:xfrm>
          <a:prstGeom prst="rect">
            <a:avLst/>
          </a:prstGeom>
          <a:solidFill>
            <a:srgbClr val="E8F0FE"/>
          </a:solidFill>
          <a:ln w="889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06440" y="1481328"/>
            <a:ext cx="54864" cy="8869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1517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Node-Constrained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773936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44455"/>
                </a:solidFill>
              </a:rPr>
              <a:t>K-Median forces centers to be ACTUAL network nodes — not abstract midpoints. A controller must physically run on a switch. K-Means fails here by returning coordinates between nodes.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2450592"/>
            <a:ext cx="6035040" cy="886968"/>
          </a:xfrm>
          <a:prstGeom prst="rect">
            <a:avLst/>
          </a:prstGeom>
          <a:solidFill>
            <a:srgbClr val="E8F0FE"/>
          </a:solidFill>
          <a:ln w="889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06440" y="2450592"/>
            <a:ext cx="54864" cy="8869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0" y="2487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Outlier Robustness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2743200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44455"/>
                </a:solidFill>
              </a:rPr>
              <a:t>Uses median (not mean). High-latency outlier links don't distort controller placement. Critical in campus topologies with uneven link lengths.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3419856"/>
            <a:ext cx="6035040" cy="886968"/>
          </a:xfrm>
          <a:prstGeom prst="rect">
            <a:avLst/>
          </a:prstGeom>
          <a:solidFill>
            <a:srgbClr val="E8F0FE"/>
          </a:solidFill>
          <a:ln w="889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06440" y="3419856"/>
            <a:ext cx="54864" cy="8869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0" y="3456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Direct Latency Minimization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712464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44455"/>
                </a:solidFill>
              </a:rPr>
              <a:t>Minimizes Σ distance(switch → its controller). This is precisely the objective: minimize total control-plane communication delay across all switches.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4389120"/>
            <a:ext cx="6035040" cy="886968"/>
          </a:xfrm>
          <a:prstGeom prst="rect">
            <a:avLst/>
          </a:prstGeom>
          <a:solidFill>
            <a:srgbClr val="E8F0FE"/>
          </a:solidFill>
          <a:ln w="889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806440" y="4389120"/>
            <a:ext cx="54864" cy="8869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0" y="44256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Result Validated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681728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44455"/>
                </a:solidFill>
              </a:rPr>
              <a:t>Algorithm placed controllers at dist1 and dist3 — the distribution-layer nodes serving as geometric medians of the two natural network halves.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5358384"/>
            <a:ext cx="6035040" cy="886968"/>
          </a:xfrm>
          <a:prstGeom prst="rect">
            <a:avLst/>
          </a:prstGeom>
          <a:solidFill>
            <a:srgbClr val="E8F0FE"/>
          </a:solidFill>
          <a:ln w="889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806440" y="5358384"/>
            <a:ext cx="54864" cy="8869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0" y="5394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Implementation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650992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44455"/>
                </a:solidFill>
              </a:rPr>
              <a:t>Python · scikit-learn KMeans on latency matrix · NetworkX for shortest-path · matplotlib for visualization (controller_placement.py)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Algorithm 2 — Dynamic Weighted Round Robin (DWRR)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349240" cy="53492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2471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ALGORITHM 2 — DWRR Load Balancer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44752"/>
            <a:ext cx="5166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i="0">
                <a:solidFill>
                  <a:srgbClr val="00B4D8"/>
                </a:solidFill>
              </a:rPr>
              <a:t>INPUT: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107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Network topology + live traffic 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i="0">
                <a:solidFill>
                  <a:srgbClr val="00B4D8"/>
                </a:solidFill>
              </a:rPr>
              <a:t>OUTPUT: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3570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Balanced traffic paths + flow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7802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72034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1.  Collect packet counts from switches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6265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  via OpenFlow StatsRequest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497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472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2.  FOR each network link: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8960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3.    weight = 1 / (utilization + 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     ε = small constant (avoid ÷0)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423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4.  END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1655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6588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5.  FOR each incoming traffic flow: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01183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6.    Select path with MAX 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43499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     (= minimum current utilization)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85815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7.    Install OFPFlowMod on switch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28131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8.  END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70447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112763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9.  Repeat steps 1–8 periodically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55079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</a:rPr>
              <a:t>    (adapts to traffic changes)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1078992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1A40"/>
                </a:solidFill>
              </a:rPr>
              <a:t>Ryu Implementation — Key Design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1481328"/>
            <a:ext cx="2852928" cy="1664208"/>
          </a:xfrm>
          <a:prstGeom prst="rect">
            <a:avLst/>
          </a:prstGeom>
          <a:solidFill>
            <a:srgbClr val="FFFFFF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06440" y="1481328"/>
            <a:ext cx="2852928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97879" y="151790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Server Pool &amp; Weights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79" y="1865376"/>
            <a:ext cx="26517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IPs: 10.0.0.2 / .3 / .4 · Weights: 3 / 2 / 1
Capacity-based weighting reflects real server specs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96528" y="1481328"/>
            <a:ext cx="2852928" cy="1664208"/>
          </a:xfrm>
          <a:prstGeom prst="rect">
            <a:avLst/>
          </a:prstGeom>
          <a:solidFill>
            <a:srgbClr val="FFFFFF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96528" y="1481328"/>
            <a:ext cx="2852928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87967" y="151790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Proactive Flow Rules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7967" y="1865376"/>
            <a:ext cx="26517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Installed at switch connect time (switch_features_handler)
Reduces PACKET_IN overhead for known server traffic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3236976"/>
            <a:ext cx="2852928" cy="1664208"/>
          </a:xfrm>
          <a:prstGeom prst="rect">
            <a:avLst/>
          </a:prstGeom>
          <a:solidFill>
            <a:srgbClr val="FFFFFF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06440" y="3236976"/>
            <a:ext cx="2852928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97879" y="32735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Packet Header Rewriting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79" y="3621024"/>
            <a:ext cx="26517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OFPActionSetField rewrites ipv4_dst to selected server
Reverse path restores original src IP — transparent to clients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96528" y="3236976"/>
            <a:ext cx="2852928" cy="1664208"/>
          </a:xfrm>
          <a:prstGeom prst="rect">
            <a:avLst/>
          </a:prstGeom>
          <a:solidFill>
            <a:srgbClr val="FFFFFF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796528" y="3236976"/>
            <a:ext cx="2852928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87967" y="32735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Priority Hierarchy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7967" y="3621024"/>
            <a:ext cx="26517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P=20: DWRR rewrite rules (highest)
P=10: Proactive server flows
P=0: Table-miss / flood default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4992624"/>
            <a:ext cx="2852928" cy="1664208"/>
          </a:xfrm>
          <a:prstGeom prst="rect">
            <a:avLst/>
          </a:prstGeom>
          <a:solidFill>
            <a:srgbClr val="FFFFFF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06440" y="4992624"/>
            <a:ext cx="2852928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97879" y="50292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LLDP Filter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79" y="5376672"/>
            <a:ext cx="26517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Topology discovery packets filtered before LB logic
Prevents false PACKET_IN triggers from LLDP broadcasts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96528" y="4992624"/>
            <a:ext cx="2852928" cy="1664208"/>
          </a:xfrm>
          <a:prstGeom prst="rect">
            <a:avLst/>
          </a:prstGeom>
          <a:solidFill>
            <a:srgbClr val="FFFFFF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796528" y="4992624"/>
            <a:ext cx="2852928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87967" y="50292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Flow Persistence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87967" y="5376672"/>
            <a:ext cx="26517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idle_timeout=0, hard_timeout=0
Flows persist until explicit removal — no repeated controller trips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Implementation — Baseline Campus Topology (Fig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9436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1A40"/>
                </a:solidFill>
              </a:rPr>
              <a:t>base_campus_topology1.py</a:t>
            </a:r>
          </a:p>
        </p:txBody>
      </p:sp>
      <p:sp>
        <p:nvSpPr>
          <p:cNvPr id="8" name="Oval 7"/>
          <p:cNvSpPr/>
          <p:nvPr/>
        </p:nvSpPr>
        <p:spPr>
          <a:xfrm>
            <a:off x="1938528" y="1572768"/>
            <a:ext cx="694944" cy="566928"/>
          </a:xfrm>
          <a:prstGeom prst="ellipse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56816" y="160020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core1</a:t>
            </a:r>
          </a:p>
        </p:txBody>
      </p:sp>
      <p:sp>
        <p:nvSpPr>
          <p:cNvPr id="10" name="Oval 9"/>
          <p:cNvSpPr/>
          <p:nvPr/>
        </p:nvSpPr>
        <p:spPr>
          <a:xfrm>
            <a:off x="4224528" y="1572768"/>
            <a:ext cx="694944" cy="566928"/>
          </a:xfrm>
          <a:prstGeom prst="ellipse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42816" y="160020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core2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783080"/>
            <a:ext cx="230428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148132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FF6B35"/>
                </a:solidFill>
              </a:rPr>
              <a:t>CORE LAYER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2743200"/>
            <a:ext cx="603504" cy="502920"/>
          </a:xfrm>
          <a:prstGeom prst="ellipse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" y="277063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dist1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2743200"/>
            <a:ext cx="603504" cy="502920"/>
          </a:xfrm>
          <a:prstGeom prst="ellipse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76856" y="277063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dist2</a:t>
            </a:r>
          </a:p>
        </p:txBody>
      </p:sp>
      <p:sp>
        <p:nvSpPr>
          <p:cNvPr id="18" name="Oval 17"/>
          <p:cNvSpPr/>
          <p:nvPr/>
        </p:nvSpPr>
        <p:spPr>
          <a:xfrm>
            <a:off x="3630168" y="2743200"/>
            <a:ext cx="603504" cy="502920"/>
          </a:xfrm>
          <a:prstGeom prst="ellipse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48456" y="277063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dist3</a:t>
            </a:r>
          </a:p>
        </p:txBody>
      </p:sp>
      <p:sp>
        <p:nvSpPr>
          <p:cNvPr id="20" name="Oval 19"/>
          <p:cNvSpPr/>
          <p:nvPr/>
        </p:nvSpPr>
        <p:spPr>
          <a:xfrm>
            <a:off x="5001768" y="2743200"/>
            <a:ext cx="603504" cy="502920"/>
          </a:xfrm>
          <a:prstGeom prst="ellipse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6" y="277063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dist4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62432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FF6B35"/>
                </a:solidFill>
              </a:rPr>
              <a:t>DISTRIBUTION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25296" y="2139696"/>
            <a:ext cx="1042415" cy="61264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322576" y="2139696"/>
            <a:ext cx="219455" cy="61264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68496" y="2139696"/>
            <a:ext cx="585216" cy="61264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08576" y="2139696"/>
            <a:ext cx="676655" cy="61264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6968" y="3977639"/>
            <a:ext cx="603504" cy="475488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" y="40050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acc1</a:t>
            </a:r>
          </a:p>
        </p:txBody>
      </p:sp>
      <p:sp>
        <p:nvSpPr>
          <p:cNvPr id="29" name="Oval 28"/>
          <p:cNvSpPr/>
          <p:nvPr/>
        </p:nvSpPr>
        <p:spPr>
          <a:xfrm>
            <a:off x="2258568" y="3977639"/>
            <a:ext cx="603504" cy="475488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76856" y="40050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acc2</a:t>
            </a:r>
          </a:p>
        </p:txBody>
      </p:sp>
      <p:sp>
        <p:nvSpPr>
          <p:cNvPr id="31" name="Oval 30"/>
          <p:cNvSpPr/>
          <p:nvPr/>
        </p:nvSpPr>
        <p:spPr>
          <a:xfrm>
            <a:off x="3630168" y="3977639"/>
            <a:ext cx="603504" cy="475488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48456" y="40050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acc3</a:t>
            </a:r>
          </a:p>
        </p:txBody>
      </p:sp>
      <p:sp>
        <p:nvSpPr>
          <p:cNvPr id="33" name="Oval 32"/>
          <p:cNvSpPr/>
          <p:nvPr/>
        </p:nvSpPr>
        <p:spPr>
          <a:xfrm>
            <a:off x="5001768" y="3977639"/>
            <a:ext cx="603504" cy="475488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0056" y="40050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85876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FF6B35"/>
                </a:solidFill>
              </a:rPr>
              <a:t>ACCESS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61288" y="3246120"/>
            <a:ext cx="54864" cy="7315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532888" y="3246120"/>
            <a:ext cx="54864" cy="7315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904487" y="3246120"/>
            <a:ext cx="54864" cy="7315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76088" y="3246120"/>
            <a:ext cx="54864" cy="7315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1323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h1</a:t>
            </a:r>
          </a:p>
        </p:txBody>
      </p:sp>
      <p:sp>
        <p:nvSpPr>
          <p:cNvPr id="42" name="Oval 41"/>
          <p:cNvSpPr/>
          <p:nvPr/>
        </p:nvSpPr>
        <p:spPr>
          <a:xfrm>
            <a:off x="126187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h2</a:t>
            </a:r>
          </a:p>
        </p:txBody>
      </p:sp>
      <p:sp>
        <p:nvSpPr>
          <p:cNvPr id="44" name="Oval 43"/>
          <p:cNvSpPr/>
          <p:nvPr/>
        </p:nvSpPr>
        <p:spPr>
          <a:xfrm>
            <a:off x="2084831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0312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h3</a:t>
            </a:r>
          </a:p>
        </p:txBody>
      </p:sp>
      <p:sp>
        <p:nvSpPr>
          <p:cNvPr id="46" name="Oval 45"/>
          <p:cNvSpPr/>
          <p:nvPr/>
        </p:nvSpPr>
        <p:spPr>
          <a:xfrm>
            <a:off x="263347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5176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h4</a:t>
            </a:r>
          </a:p>
        </p:txBody>
      </p:sp>
      <p:sp>
        <p:nvSpPr>
          <p:cNvPr id="48" name="Oval 47"/>
          <p:cNvSpPr/>
          <p:nvPr/>
        </p:nvSpPr>
        <p:spPr>
          <a:xfrm>
            <a:off x="345643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7472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h5</a:t>
            </a:r>
          </a:p>
        </p:txBody>
      </p:sp>
      <p:sp>
        <p:nvSpPr>
          <p:cNvPr id="50" name="Oval 49"/>
          <p:cNvSpPr/>
          <p:nvPr/>
        </p:nvSpPr>
        <p:spPr>
          <a:xfrm>
            <a:off x="400507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023359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h6</a:t>
            </a:r>
          </a:p>
        </p:txBody>
      </p:sp>
      <p:sp>
        <p:nvSpPr>
          <p:cNvPr id="52" name="Oval 51"/>
          <p:cNvSpPr/>
          <p:nvPr/>
        </p:nvSpPr>
        <p:spPr>
          <a:xfrm>
            <a:off x="482803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4632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h7</a:t>
            </a:r>
          </a:p>
        </p:txBody>
      </p:sp>
      <p:sp>
        <p:nvSpPr>
          <p:cNvPr id="54" name="Oval 53"/>
          <p:cNvSpPr/>
          <p:nvPr/>
        </p:nvSpPr>
        <p:spPr>
          <a:xfrm>
            <a:off x="537667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94959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61288" y="4453128"/>
            <a:ext cx="54864" cy="5486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532888" y="4453128"/>
            <a:ext cx="54864" cy="5486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904487" y="4453128"/>
            <a:ext cx="54864" cy="5486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276088" y="4453128"/>
            <a:ext cx="54864" cy="5486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3017520" y="5806440"/>
            <a:ext cx="914400" cy="411480"/>
          </a:xfrm>
          <a:prstGeom prst="ellipse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035808" y="5833872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c0 (default)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9224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A356A"/>
                </a:solidFill>
              </a:rPr>
              <a:t>[Fig 3: Baseline topology — default Mininet controllers]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Baseline Setup Configuration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1417320"/>
            <a:ext cx="5486400" cy="566928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92240" y="147218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Topology File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58200" y="147218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base_campus_topology1.py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2057400"/>
            <a:ext cx="54864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92240" y="211226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Controllers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58200" y="211226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2 default Mininet controllers (c1, c2)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2697480"/>
            <a:ext cx="5486400" cy="566928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92240" y="275234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Switches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58200" y="27523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10 OVS switches (2 core + 4 dist + 4 acc)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3337559"/>
            <a:ext cx="54864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92240" y="3392423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Hosts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3392423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8 hosts (h1–h8, IPs: 10.0.1.x – 10.0.4.x)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3977639"/>
            <a:ext cx="5486400" cy="566928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492240" y="4032503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Switch Mode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58200" y="4032503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Standalone (ovs-vsctl set-fail-mode)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0" y="4617720"/>
            <a:ext cx="54864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92240" y="4672583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SDN Optimization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58200" y="4672583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NONE — default forwarding only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5257799"/>
            <a:ext cx="5486400" cy="566928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92240" y="5312663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Launch Command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58200" y="5312663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sudo python3 base_campus_topology1.py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0" y="5897879"/>
            <a:ext cx="54864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5952743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Connectivity Test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58200" y="5952743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net.pingAll() → 0% packet loss 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00800" y="6400800"/>
            <a:ext cx="548640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46520" y="64373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Baseline Avg RTT: 4.071 ms  ·  Throughput: 38.3 Mbps  ·  Packet Rate: 0.059 pkt/s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Implementation — Optimized Topology &amp; Controllers (Fig 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9436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1A40"/>
                </a:solidFill>
              </a:rPr>
              <a:t>campus_topology_with_controllers.py</a:t>
            </a:r>
          </a:p>
        </p:txBody>
      </p:sp>
      <p:sp>
        <p:nvSpPr>
          <p:cNvPr id="8" name="Oval 7"/>
          <p:cNvSpPr/>
          <p:nvPr/>
        </p:nvSpPr>
        <p:spPr>
          <a:xfrm>
            <a:off x="1938528" y="1572768"/>
            <a:ext cx="694944" cy="566928"/>
          </a:xfrm>
          <a:prstGeom prst="ellipse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56816" y="160020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core1</a:t>
            </a:r>
          </a:p>
        </p:txBody>
      </p:sp>
      <p:sp>
        <p:nvSpPr>
          <p:cNvPr id="10" name="Oval 9"/>
          <p:cNvSpPr/>
          <p:nvPr/>
        </p:nvSpPr>
        <p:spPr>
          <a:xfrm>
            <a:off x="4224528" y="1572768"/>
            <a:ext cx="694944" cy="566928"/>
          </a:xfrm>
          <a:prstGeom prst="ellipse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42816" y="160020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core2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783080"/>
            <a:ext cx="230428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2743200"/>
            <a:ext cx="603504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7706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dist1*</a:t>
            </a:r>
          </a:p>
        </p:txBody>
      </p:sp>
      <p:sp>
        <p:nvSpPr>
          <p:cNvPr id="15" name="Oval 14"/>
          <p:cNvSpPr/>
          <p:nvPr/>
        </p:nvSpPr>
        <p:spPr>
          <a:xfrm>
            <a:off x="2258568" y="2743200"/>
            <a:ext cx="603504" cy="502920"/>
          </a:xfrm>
          <a:prstGeom prst="ellipse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31136" y="27706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dist2</a:t>
            </a:r>
          </a:p>
        </p:txBody>
      </p:sp>
      <p:sp>
        <p:nvSpPr>
          <p:cNvPr id="17" name="Oval 16"/>
          <p:cNvSpPr/>
          <p:nvPr/>
        </p:nvSpPr>
        <p:spPr>
          <a:xfrm>
            <a:off x="3630168" y="2743200"/>
            <a:ext cx="603504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02736" y="27706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dist3*</a:t>
            </a:r>
          </a:p>
        </p:txBody>
      </p:sp>
      <p:sp>
        <p:nvSpPr>
          <p:cNvPr id="19" name="Oval 18"/>
          <p:cNvSpPr/>
          <p:nvPr/>
        </p:nvSpPr>
        <p:spPr>
          <a:xfrm>
            <a:off x="5001768" y="2743200"/>
            <a:ext cx="603504" cy="502920"/>
          </a:xfrm>
          <a:prstGeom prst="ellipse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74336" y="27706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dist4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5296" y="2139696"/>
            <a:ext cx="1042415" cy="61264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22576" y="2139696"/>
            <a:ext cx="219455" cy="61264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68496" y="2139696"/>
            <a:ext cx="585216" cy="61264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08576" y="2139696"/>
            <a:ext cx="676655" cy="61264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86968" y="3977639"/>
            <a:ext cx="603504" cy="475488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6" y="40050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acc1</a:t>
            </a:r>
          </a:p>
        </p:txBody>
      </p:sp>
      <p:sp>
        <p:nvSpPr>
          <p:cNvPr id="27" name="Oval 26"/>
          <p:cNvSpPr/>
          <p:nvPr/>
        </p:nvSpPr>
        <p:spPr>
          <a:xfrm>
            <a:off x="2258568" y="3977639"/>
            <a:ext cx="603504" cy="475488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76856" y="40050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acc2</a:t>
            </a:r>
          </a:p>
        </p:txBody>
      </p:sp>
      <p:sp>
        <p:nvSpPr>
          <p:cNvPr id="29" name="Oval 28"/>
          <p:cNvSpPr/>
          <p:nvPr/>
        </p:nvSpPr>
        <p:spPr>
          <a:xfrm>
            <a:off x="3630168" y="3977639"/>
            <a:ext cx="603504" cy="475488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48456" y="40050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acc3</a:t>
            </a:r>
          </a:p>
        </p:txBody>
      </p:sp>
      <p:sp>
        <p:nvSpPr>
          <p:cNvPr id="31" name="Oval 30"/>
          <p:cNvSpPr/>
          <p:nvPr/>
        </p:nvSpPr>
        <p:spPr>
          <a:xfrm>
            <a:off x="5001768" y="3977639"/>
            <a:ext cx="603504" cy="475488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0056" y="40050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61288" y="3246120"/>
            <a:ext cx="54864" cy="7315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32888" y="3246120"/>
            <a:ext cx="54864" cy="7315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904487" y="3246120"/>
            <a:ext cx="54864" cy="7315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276088" y="3246120"/>
            <a:ext cx="54864" cy="7315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1323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h1</a:t>
            </a:r>
          </a:p>
        </p:txBody>
      </p:sp>
      <p:sp>
        <p:nvSpPr>
          <p:cNvPr id="39" name="Oval 38"/>
          <p:cNvSpPr/>
          <p:nvPr/>
        </p:nvSpPr>
        <p:spPr>
          <a:xfrm>
            <a:off x="126187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8016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h2</a:t>
            </a:r>
          </a:p>
        </p:txBody>
      </p:sp>
      <p:sp>
        <p:nvSpPr>
          <p:cNvPr id="41" name="Oval 40"/>
          <p:cNvSpPr/>
          <p:nvPr/>
        </p:nvSpPr>
        <p:spPr>
          <a:xfrm>
            <a:off x="2084831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0312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h3</a:t>
            </a:r>
          </a:p>
        </p:txBody>
      </p:sp>
      <p:sp>
        <p:nvSpPr>
          <p:cNvPr id="43" name="Oval 42"/>
          <p:cNvSpPr/>
          <p:nvPr/>
        </p:nvSpPr>
        <p:spPr>
          <a:xfrm>
            <a:off x="263347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5176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h4</a:t>
            </a:r>
          </a:p>
        </p:txBody>
      </p:sp>
      <p:sp>
        <p:nvSpPr>
          <p:cNvPr id="45" name="Oval 44"/>
          <p:cNvSpPr/>
          <p:nvPr/>
        </p:nvSpPr>
        <p:spPr>
          <a:xfrm>
            <a:off x="345643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7472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h5</a:t>
            </a:r>
          </a:p>
        </p:txBody>
      </p:sp>
      <p:sp>
        <p:nvSpPr>
          <p:cNvPr id="47" name="Oval 46"/>
          <p:cNvSpPr/>
          <p:nvPr/>
        </p:nvSpPr>
        <p:spPr>
          <a:xfrm>
            <a:off x="400507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023359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h6</a:t>
            </a:r>
          </a:p>
        </p:txBody>
      </p:sp>
      <p:sp>
        <p:nvSpPr>
          <p:cNvPr id="49" name="Oval 48"/>
          <p:cNvSpPr/>
          <p:nvPr/>
        </p:nvSpPr>
        <p:spPr>
          <a:xfrm>
            <a:off x="482803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46320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h7</a:t>
            </a:r>
          </a:p>
        </p:txBody>
      </p:sp>
      <p:sp>
        <p:nvSpPr>
          <p:cNvPr id="51" name="Oval 50"/>
          <p:cNvSpPr/>
          <p:nvPr/>
        </p:nvSpPr>
        <p:spPr>
          <a:xfrm>
            <a:off x="5376672" y="4818888"/>
            <a:ext cx="402336" cy="329184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94959" y="487375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61A40"/>
                </a:solidFill>
              </a:rPr>
              <a:t>h8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1288" y="4453128"/>
            <a:ext cx="54864" cy="5486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532888" y="4453128"/>
            <a:ext cx="54864" cy="5486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904487" y="4453128"/>
            <a:ext cx="54864" cy="5486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276088" y="4453128"/>
            <a:ext cx="54864" cy="5486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41248" y="5760720"/>
            <a:ext cx="694944" cy="365760"/>
          </a:xfrm>
          <a:prstGeom prst="ellipse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9536" y="57881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c1:6633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61288" y="5458968"/>
            <a:ext cx="54864" cy="32004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3584448" y="5760720"/>
            <a:ext cx="694944" cy="365760"/>
          </a:xfrm>
          <a:prstGeom prst="ellipse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02736" y="57881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c2:6634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04487" y="5458968"/>
            <a:ext cx="54864" cy="32004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" y="649224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A356A"/>
                </a:solidFill>
              </a:rPr>
              <a:t>* = SDN Controller Node (K-Median optimal)  |  [Fig 4: Optimized topology]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10789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Optimized Setup — Launch Commands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1444752"/>
            <a:ext cx="5486400" cy="117043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92240" y="14904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Step 1 — Run K-Median Placement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1783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python3 controller_placement.py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21305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→ Output: Optimal locations = [dist1, dist3]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2706624"/>
            <a:ext cx="5486400" cy="117043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27523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Step 2 — Launch Ryu Controller 1 (port 6633)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30449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ryu-manager --ofp-tcp-listen-port 6633 \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339242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dynamic_load_balancer.py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3968496"/>
            <a:ext cx="5486400" cy="117043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92240" y="401421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Step 3 — Launch Ryu Controller 2 (port 6634)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430682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ryu-manager --ofp-tcp-listen-port 6634 \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2240" y="465429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dynamic_load_balancer.py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5230368"/>
            <a:ext cx="5486400" cy="117043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92240" y="52760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Step 4 — Start Optimized Mininet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92240" y="556869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sudo python3 campus_topology_with_controllers.py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59161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→ pingAll() → 0% packet loss confirmed 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6400800"/>
            <a:ext cx="5486400" cy="347472"/>
          </a:xfrm>
          <a:prstGeom prst="rect">
            <a:avLst/>
          </a:prstGeom>
          <a:solidFill>
            <a:srgbClr val="00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46520" y="64373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Optimized Avg RTT: 0.215 ms  ·  Throughput: 93.6 Mbps  ·  Packet Rate: 0.59 pkt/s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Performance Measurement — Raw Data (Tables 1 &amp;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A356A"/>
                </a:solidFill>
              </a:rPr>
              <a:t>h1 ping -c 10 h2 — Run under identical conditions on both setups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57784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TABLE 1: Baseline Setup — Default Controllers  (Avg RTT = 4.071 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740664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" y="1719072"/>
            <a:ext cx="667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1691640"/>
            <a:ext cx="932688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171907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ICMP_Seq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8" y="1691640"/>
            <a:ext cx="896112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84832" y="17190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Bytes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4368" y="1691640"/>
            <a:ext cx="1261872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99232" y="171907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691640"/>
            <a:ext cx="649224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9392" y="1719072"/>
            <a:ext cx="576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TTL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691640"/>
            <a:ext cx="987552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46903" y="17190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Time (ms)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020824"/>
            <a:ext cx="74066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2048255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" y="2020824"/>
            <a:ext cx="932688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33856" y="2048255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9968" y="2020824"/>
            <a:ext cx="89611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84832" y="2048255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2020824"/>
            <a:ext cx="126187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99232" y="2048255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24528" y="2020824"/>
            <a:ext cx="64922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9392" y="2048255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2020824"/>
            <a:ext cx="98755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46903" y="2048255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3.790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313432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4904" y="2340863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8992" y="2313432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33856" y="2340863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29968" y="2313432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84832" y="2340863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44368" y="2313432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99232" y="2340863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8" y="2313432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79392" y="2340863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2313432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46903" y="2340863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0.087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2606040"/>
            <a:ext cx="74066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2633472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8992" y="2606040"/>
            <a:ext cx="932688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33856" y="2633472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29968" y="2606040"/>
            <a:ext cx="89611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084832" y="263347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44368" y="2606040"/>
            <a:ext cx="126187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99232" y="2633472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24528" y="2606040"/>
            <a:ext cx="64922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79392" y="2633472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92040" y="2606040"/>
            <a:ext cx="98755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46903" y="26334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0.065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2898648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4904" y="2926079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8992" y="2898648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33856" y="2926079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29968" y="2898648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084832" y="2926079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44368" y="2898648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999232" y="2926079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24528" y="2898648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279392" y="2926079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92040" y="2898648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46903" y="2926079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0.088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3191256"/>
            <a:ext cx="74066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74904" y="3218688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8992" y="3191256"/>
            <a:ext cx="932688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133856" y="3218688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29968" y="3191256"/>
            <a:ext cx="89611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084832" y="321868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44368" y="3191256"/>
            <a:ext cx="126187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999232" y="3218688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24528" y="3191256"/>
            <a:ext cx="64922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279392" y="3218688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92040" y="3191256"/>
            <a:ext cx="98755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46903" y="32186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0.050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3483864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74904" y="3511296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78992" y="3483864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33856" y="3511296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29968" y="3483864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84832" y="351129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44368" y="3483864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999232" y="3511296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24528" y="3483864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279392" y="3511296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92040" y="3483864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946903" y="35112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0.090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" y="3776472"/>
            <a:ext cx="74066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74904" y="3803904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78992" y="3776472"/>
            <a:ext cx="932688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133856" y="3803904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29968" y="3776472"/>
            <a:ext cx="89611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084832" y="380390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44368" y="3776472"/>
            <a:ext cx="126187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999232" y="3803904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24528" y="3776472"/>
            <a:ext cx="64922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279392" y="3803904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892040" y="3776472"/>
            <a:ext cx="98755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46903" y="380390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0.073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0040" y="4069080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74904" y="4096512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78992" y="4069080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133856" y="4096512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029968" y="4069080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084832" y="40965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944368" y="4069080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999232" y="4096512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24528" y="4069080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279392" y="4096512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92040" y="4069080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946903" y="40965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0.059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0040" y="4361688"/>
            <a:ext cx="74066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74904" y="4389120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8992" y="4361688"/>
            <a:ext cx="932688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133856" y="4389120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029968" y="4361688"/>
            <a:ext cx="89611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084832" y="438912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944368" y="4361688"/>
            <a:ext cx="126187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999232" y="4389120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224528" y="4361688"/>
            <a:ext cx="649224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279392" y="4389120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892040" y="4361688"/>
            <a:ext cx="987552" cy="274320"/>
          </a:xfrm>
          <a:prstGeom prst="rect">
            <a:avLst/>
          </a:prstGeom>
          <a:solidFill>
            <a:srgbClr val="FFF0E8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946903" y="438912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0.069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20040" y="4654296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74904" y="4681728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78992" y="4654296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133856" y="4681728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029968" y="4654296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084832" y="468172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944368" y="4654296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999232" y="4681728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224528" y="4654296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279392" y="4681728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892040" y="4654296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946903" y="468172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0.063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035040" y="1325880"/>
            <a:ext cx="580644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126480" y="135331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TABLE 2: Optimized SDN Setup — DWRR  (Avg RTT = 0.141 ms)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035040" y="1691640"/>
            <a:ext cx="740664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089903" y="1719072"/>
            <a:ext cx="667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793992" y="1691640"/>
            <a:ext cx="932688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848855" y="171907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ICMP_Seq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744968" y="1691640"/>
            <a:ext cx="896112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7799832" y="17190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Bytes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59368" y="1691640"/>
            <a:ext cx="1261872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714232" y="171907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939528" y="1691640"/>
            <a:ext cx="649224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9994392" y="1719072"/>
            <a:ext cx="576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TTL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07040" y="1691640"/>
            <a:ext cx="987552" cy="329184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661904" y="17190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Time (ms)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035040" y="2020824"/>
            <a:ext cx="74066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089903" y="2048255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793992" y="2020824"/>
            <a:ext cx="932688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848855" y="2048255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744968" y="2020824"/>
            <a:ext cx="89611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7799832" y="2048255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659368" y="2020824"/>
            <a:ext cx="126187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8714232" y="2048255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939528" y="2020824"/>
            <a:ext cx="64922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9994392" y="2048255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607040" y="2020824"/>
            <a:ext cx="98755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10661904" y="2048255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0.878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035040" y="2313432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089903" y="2340863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793992" y="2313432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848855" y="2340863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2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744968" y="2313432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7799832" y="2340863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659368" y="2313432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714232" y="2340863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939528" y="2313432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994392" y="2340863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607040" y="2313432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661904" y="2340863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0.063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035040" y="2606040"/>
            <a:ext cx="74066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6089903" y="2633472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3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793992" y="2606040"/>
            <a:ext cx="932688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848855" y="2633472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3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744968" y="2606040"/>
            <a:ext cx="89611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799832" y="263347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659368" y="2606040"/>
            <a:ext cx="126187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8714232" y="2633472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939528" y="2606040"/>
            <a:ext cx="64922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9994392" y="2633472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607040" y="2606040"/>
            <a:ext cx="98755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10661904" y="26334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0.062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035040" y="2898648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089903" y="2926079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4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793992" y="2898648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6848855" y="2926079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4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744968" y="2898648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7799832" y="2926079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8659368" y="2898648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8714232" y="2926079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9939528" y="2898648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9994392" y="2926079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607040" y="2898648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661904" y="2926079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0.071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035040" y="3191256"/>
            <a:ext cx="74066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6089903" y="3218688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93992" y="3191256"/>
            <a:ext cx="932688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848855" y="3218688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5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744968" y="3191256"/>
            <a:ext cx="89611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799832" y="321868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8659368" y="3191256"/>
            <a:ext cx="126187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8714232" y="3218688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939528" y="3191256"/>
            <a:ext cx="64922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9994392" y="3218688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0607040" y="3191256"/>
            <a:ext cx="98755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10661904" y="32186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0.043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035040" y="3483864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6089903" y="3511296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793992" y="3483864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6848855" y="3511296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744968" y="3483864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7799832" y="351129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659368" y="3483864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8714232" y="3511296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9939528" y="3483864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9994392" y="3511296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0607040" y="3483864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10661904" y="35112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0.057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035040" y="3776472"/>
            <a:ext cx="74066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6089903" y="3803904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7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793992" y="3776472"/>
            <a:ext cx="932688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6848855" y="3803904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7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744968" y="3776472"/>
            <a:ext cx="89611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7799832" y="380390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659368" y="3776472"/>
            <a:ext cx="126187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8714232" y="3803904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9939528" y="3776472"/>
            <a:ext cx="64922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9994392" y="3803904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0607040" y="3776472"/>
            <a:ext cx="98755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10661904" y="380390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0.059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035040" y="4069080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089903" y="4096512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8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6793992" y="4069080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6848855" y="4096512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8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744968" y="4069080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799832" y="40965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8659368" y="4069080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8714232" y="4096512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939528" y="4069080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9994392" y="4096512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607040" y="4069080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661904" y="40965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0.064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035040" y="4361688"/>
            <a:ext cx="74066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6089903" y="4389120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9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793992" y="4361688"/>
            <a:ext cx="932688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6848855" y="4389120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9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744968" y="4361688"/>
            <a:ext cx="89611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7799832" y="438912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659368" y="4361688"/>
            <a:ext cx="126187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8714232" y="4389120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939528" y="4361688"/>
            <a:ext cx="649224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9994392" y="4389120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607040" y="4361688"/>
            <a:ext cx="987552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10661904" y="438912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0.065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6035040" y="4654296"/>
            <a:ext cx="74066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6089903" y="4681728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793992" y="4654296"/>
            <a:ext cx="9326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6848855" y="4681728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744968" y="4654296"/>
            <a:ext cx="896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7799832" y="468172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659368" y="4654296"/>
            <a:ext cx="12618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8714232" y="4681728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10.0.1.2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39528" y="4654296"/>
            <a:ext cx="649224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9994392" y="4681728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64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0607040" y="4654296"/>
            <a:ext cx="9875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10661904" y="468172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0.057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320040" y="4956048"/>
            <a:ext cx="55778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411480" y="49834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First packet 3.790 ms (ARP/table miss) · Steady state avg: 0.072 ms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6035040" y="4956048"/>
            <a:ext cx="58064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6126480" y="4983480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First packet 0.878 ms (controller setup) · Steady state avg: 0.062 ms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20040" y="541324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A356A"/>
                </a:solidFill>
              </a:rPr>
              <a:t>Note: First ICMP packet higher due to ARP resolution / flow table setup. Subsequent packets reflect steady-state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Full Quantitative Comparison (Table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A356A"/>
                </a:solidFill>
              </a:rPr>
              <a:t>All metrics measured under identical traffic conditions in Mininet — same topology, same load, same commands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1883664" cy="43891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362456"/>
            <a:ext cx="1792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325880"/>
            <a:ext cx="3072384" cy="43891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13432" y="1362456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325880"/>
            <a:ext cx="2203704" cy="43891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68112" y="1362456"/>
            <a:ext cx="2112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Baseline
(Default)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325880"/>
            <a:ext cx="2386584" cy="43891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54112" y="1362456"/>
            <a:ext cx="2295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Optimized
(SDN+DWRR)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1325880"/>
            <a:ext cx="2139696" cy="43891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22992" y="1362456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828800"/>
            <a:ext cx="188366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1883664"/>
            <a:ext cx="17922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Latency (RTT)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1828800"/>
            <a:ext cx="307238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13432" y="1883664"/>
            <a:ext cx="29809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h1→h2 round-trip time (ping)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828800"/>
            <a:ext cx="220370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68112" y="1883664"/>
            <a:ext cx="211226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444455"/>
                </a:solidFill>
              </a:rPr>
              <a:t>4.071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1828800"/>
            <a:ext cx="238658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4112" y="1883664"/>
            <a:ext cx="22951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00B4D8"/>
                </a:solidFill>
              </a:rPr>
              <a:t>0.215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1828800"/>
            <a:ext cx="2139696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22992" y="1883664"/>
            <a:ext cx="204825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009955"/>
                </a:solidFill>
              </a:rPr>
              <a:t>↓ 94.7%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68296"/>
            <a:ext cx="188366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2423160"/>
            <a:ext cx="17922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Throughput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2368296"/>
            <a:ext cx="307238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13432" y="2423160"/>
            <a:ext cx="29809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TCP data transfer rate (iperf)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2368296"/>
            <a:ext cx="220370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68112" y="2423160"/>
            <a:ext cx="211226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444455"/>
                </a:solidFill>
              </a:rPr>
              <a:t>38.3 Mbps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2368296"/>
            <a:ext cx="238658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54112" y="2423160"/>
            <a:ext cx="22951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00B4D8"/>
                </a:solidFill>
              </a:rPr>
              <a:t>93.6 Mbps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2368296"/>
            <a:ext cx="2139696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22992" y="2423160"/>
            <a:ext cx="204825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009955"/>
                </a:solidFill>
              </a:rPr>
              <a:t>↑ 144%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07792"/>
            <a:ext cx="188366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" y="2962656"/>
            <a:ext cx="17922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Packet 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2907792"/>
            <a:ext cx="307238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13432" y="2962656"/>
            <a:ext cx="29809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Packets processed — dist1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2907792"/>
            <a:ext cx="220370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68112" y="2962656"/>
            <a:ext cx="211226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444455"/>
                </a:solidFill>
              </a:rPr>
              <a:t>26 packets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2907792"/>
            <a:ext cx="238658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54112" y="2962656"/>
            <a:ext cx="22951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00B4D8"/>
                </a:solidFill>
              </a:rPr>
              <a:t>443 packets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49840" y="2907792"/>
            <a:ext cx="2139696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22992" y="2962656"/>
            <a:ext cx="204825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009955"/>
                </a:solidFill>
              </a:rPr>
              <a:t>↑ 1,600%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447288"/>
            <a:ext cx="188366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7472" y="3502152"/>
            <a:ext cx="17922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Byte Count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40280" y="3447288"/>
            <a:ext cx="307238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13432" y="3502152"/>
            <a:ext cx="29809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Data volume — dist1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3447288"/>
            <a:ext cx="220370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68112" y="3502152"/>
            <a:ext cx="211226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444455"/>
                </a:solidFill>
              </a:rPr>
              <a:t>3,089 bytes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3447288"/>
            <a:ext cx="238658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54112" y="3502152"/>
            <a:ext cx="22951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00B4D8"/>
                </a:solidFill>
              </a:rPr>
              <a:t>51,270 bytes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49840" y="3447288"/>
            <a:ext cx="2139696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222992" y="3502152"/>
            <a:ext cx="204825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009955"/>
                </a:solidFill>
              </a:rPr>
              <a:t>↑ 1,560%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986784"/>
            <a:ext cx="188366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7472" y="4041648"/>
            <a:ext cx="17922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Flow Duration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40280" y="3986784"/>
            <a:ext cx="307238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313432" y="4041648"/>
            <a:ext cx="29809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Active flow time — dist1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3986784"/>
            <a:ext cx="220370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68112" y="4041648"/>
            <a:ext cx="211226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444455"/>
                </a:solidFill>
              </a:rPr>
              <a:t>440.97 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0" y="3986784"/>
            <a:ext cx="238658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54112" y="4041648"/>
            <a:ext cx="22951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00B4D8"/>
                </a:solidFill>
              </a:rPr>
              <a:t>751.24 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86784"/>
            <a:ext cx="2139696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222992" y="4041648"/>
            <a:ext cx="204825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009955"/>
                </a:solidFill>
              </a:rPr>
              <a:t>↑ 71%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526280"/>
            <a:ext cx="188366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7472" y="4581144"/>
            <a:ext cx="17922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Packet Rate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40280" y="4526280"/>
            <a:ext cx="307238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313432" y="4581144"/>
            <a:ext cx="29809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Packets/second — dist1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94960" y="4526280"/>
            <a:ext cx="220370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68112" y="4581144"/>
            <a:ext cx="211226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444455"/>
                </a:solidFill>
              </a:rPr>
              <a:t>0.059 pkt/s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4526280"/>
            <a:ext cx="238658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54112" y="4581144"/>
            <a:ext cx="22951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00B4D8"/>
                </a:solidFill>
              </a:rPr>
              <a:t>0.590 pkt/s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4526280"/>
            <a:ext cx="2139696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222992" y="4581144"/>
            <a:ext cx="204825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009955"/>
                </a:solidFill>
              </a:rPr>
              <a:t>↑ 900%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065776"/>
            <a:ext cx="188366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47472" y="5120640"/>
            <a:ext cx="17922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Ping Loss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40280" y="5065776"/>
            <a:ext cx="307238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313432" y="5120640"/>
            <a:ext cx="29809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ICMP packet loss rate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94960" y="5065776"/>
            <a:ext cx="220370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68112" y="5120640"/>
            <a:ext cx="211226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444455"/>
                </a:solidFill>
              </a:rPr>
              <a:t>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80960" y="5065776"/>
            <a:ext cx="2386584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754112" y="5120640"/>
            <a:ext cx="22951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00B4D8"/>
                </a:solidFill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9840" y="5065776"/>
            <a:ext cx="2139696" cy="466344"/>
          </a:xfrm>
          <a:prstGeom prst="rect">
            <a:avLst/>
          </a:prstGeom>
          <a:solidFill>
            <a:srgbClr val="E8F0FE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222992" y="5120640"/>
            <a:ext cx="204825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444455"/>
                </a:solidFill>
              </a:rPr>
              <a:t>✓ Maintained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605272"/>
            <a:ext cx="188366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47472" y="5660136"/>
            <a:ext cx="17922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Steady RTT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40280" y="5605272"/>
            <a:ext cx="307238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313432" y="5660136"/>
            <a:ext cx="29809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444455"/>
                </a:solidFill>
              </a:rPr>
              <a:t>Avg RTT packets 2–10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94960" y="5605272"/>
            <a:ext cx="220370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468112" y="5660136"/>
            <a:ext cx="211226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444455"/>
                </a:solidFill>
              </a:rPr>
              <a:t>~0.072 ms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80960" y="5605272"/>
            <a:ext cx="2386584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754112" y="5660136"/>
            <a:ext cx="22951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0" i="0">
                <a:solidFill>
                  <a:srgbClr val="00B4D8"/>
                </a:solidFill>
              </a:rPr>
              <a:t>~0.062 ms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49840" y="5605272"/>
            <a:ext cx="2139696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222992" y="5660136"/>
            <a:ext cx="204825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444455"/>
                </a:solidFill>
              </a:rPr>
              <a:t>↓ 14%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Visual Analysis: Latency &amp; Throughput (Figs 5 &amp;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2412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Fig 5: Latency Comparison (ms RTT)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5623560" cy="5047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089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6217920"/>
            <a:ext cx="512064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51755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5303520"/>
            <a:ext cx="512064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42611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389120"/>
            <a:ext cx="512064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3346703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474720"/>
            <a:ext cx="512064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432303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2560320"/>
            <a:ext cx="512064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97280" y="2495397"/>
            <a:ext cx="1280160" cy="372252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17520" y="6021324"/>
            <a:ext cx="1280160" cy="19659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222107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6B35"/>
                </a:solidFill>
              </a:rPr>
              <a:t>4.071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74700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B4D8"/>
                </a:solidFill>
              </a:rPr>
              <a:t>0.215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27278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44455"/>
                </a:solidFill>
              </a:rP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627278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44455"/>
                </a:solidFill>
              </a:rPr>
              <a:t>SDN+DWRR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474720"/>
            <a:ext cx="1371600" cy="292608"/>
          </a:xfrm>
          <a:prstGeom prst="rect">
            <a:avLst/>
          </a:prstGeom>
          <a:solidFill>
            <a:srgbClr val="E0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20240" y="350215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9955"/>
                </a:solidFill>
              </a:rPr>
              <a:t>↓ 94.7%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60350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55"/>
                </a:solidFill>
              </a:rPr>
              <a:t>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24128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Fig 6: Throughput Comparison (Mbps)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3368" y="1353312"/>
            <a:ext cx="5623560" cy="5047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6089904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6217920"/>
            <a:ext cx="507492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404104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5532120"/>
            <a:ext cx="507492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718304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846320"/>
            <a:ext cx="507492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032504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4160520"/>
            <a:ext cx="507492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3346703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4455"/>
                </a:solidFill>
              </a:rPr>
              <a:t>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3474720"/>
            <a:ext cx="5074920" cy="1097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178040" y="4466844"/>
            <a:ext cx="1280160" cy="17510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098280" y="1938528"/>
            <a:ext cx="1280160" cy="42793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78040" y="41925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6B35"/>
                </a:solidFill>
              </a:rPr>
              <a:t>38.3 Mbps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1664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B4D8"/>
                </a:solidFill>
              </a:rPr>
              <a:t>93.6 Mbps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627278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44455"/>
                </a:solidFill>
              </a:rPr>
              <a:t>Baseline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627278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44455"/>
                </a:solidFill>
              </a:rPr>
              <a:t>SDN+DWRR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2606040"/>
            <a:ext cx="1371600" cy="292608"/>
          </a:xfrm>
          <a:prstGeom prst="rect">
            <a:avLst/>
          </a:prstGeom>
          <a:solidFill>
            <a:srgbClr val="E0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01000" y="26334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9955"/>
                </a:solidFill>
              </a:rPr>
              <a:t>↑ 144%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4320" y="60350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55"/>
                </a:solidFill>
              </a:rPr>
              <a:t>Mbps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0" y="6537960"/>
            <a:ext cx="228600" cy="228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67328" y="6519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Baseline (Default Controllers)</a:t>
            </a:r>
          </a:p>
        </p:txBody>
      </p:sp>
      <p:sp>
        <p:nvSpPr>
          <p:cNvPr id="50" name="Oval 49"/>
          <p:cNvSpPr/>
          <p:nvPr/>
        </p:nvSpPr>
        <p:spPr>
          <a:xfrm>
            <a:off x="6583680" y="6537960"/>
            <a:ext cx="228600" cy="2286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76288" y="6519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SDN + DWRR Optimized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Packet Processing &amp; Flow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A356A"/>
                </a:solidFill>
              </a:rPr>
              <a:t>Switch-level metrics (dist1) demonstrate dramatically higher processing efficiency under SDN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2834640" cy="5193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35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1A40"/>
                </a:solidFill>
              </a:rPr>
              <a:t>Packet Count
(dist1, packets)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5397804"/>
            <a:ext cx="822960" cy="216611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72768" y="1923694"/>
            <a:ext cx="822960" cy="3690721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51417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5650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55"/>
                </a:solidFill>
              </a:rPr>
              <a:t>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66766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443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5650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55"/>
                </a:solidFill>
              </a:rPr>
              <a:t>SDN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59" y="1920240"/>
            <a:ext cx="2148840" cy="292608"/>
          </a:xfrm>
          <a:prstGeom prst="rect">
            <a:avLst/>
          </a:prstGeom>
          <a:solidFill>
            <a:srgbClr val="E0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59" y="1947672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955"/>
                </a:solidFill>
              </a:rPr>
              <a:t>↑ 17×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6976" y="1389888"/>
            <a:ext cx="2834640" cy="5193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82696" y="1435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1A40"/>
                </a:solidFill>
              </a:rPr>
              <a:t>Byte Count
(dist1, KB)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38144" y="5403856"/>
            <a:ext cx="822960" cy="210559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35424" y="2119629"/>
            <a:ext cx="822960" cy="349478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38144" y="51478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3.089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5650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55"/>
                </a:solidFill>
              </a:rPr>
              <a:t>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1863597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51.27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5650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55"/>
                </a:solidFill>
              </a:rPr>
              <a:t>SDN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57016" y="1920240"/>
            <a:ext cx="2148840" cy="292608"/>
          </a:xfrm>
          <a:prstGeom prst="rect">
            <a:avLst/>
          </a:prstGeom>
          <a:solidFill>
            <a:srgbClr val="E0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57016" y="1947672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955"/>
                </a:solidFill>
              </a:rPr>
              <a:t>↑ 16.6×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1389888"/>
            <a:ext cx="2834640" cy="5193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5352" y="1435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1A40"/>
                </a:solidFill>
              </a:rPr>
              <a:t>Flow Duration
(dist1, seconds)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547898"/>
            <a:ext cx="822960" cy="206651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98079" y="2093879"/>
            <a:ext cx="822960" cy="35205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29186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440.97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650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55"/>
                </a:solidFill>
              </a:rPr>
              <a:t>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1837847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751.24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650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55"/>
                </a:solidFill>
              </a:rPr>
              <a:t>SDN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9672" y="1920240"/>
            <a:ext cx="2148840" cy="292608"/>
          </a:xfrm>
          <a:prstGeom prst="rect">
            <a:avLst/>
          </a:prstGeom>
          <a:solidFill>
            <a:srgbClr val="E0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9672" y="1947672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955"/>
                </a:solidFill>
              </a:rPr>
              <a:t>↑ 71%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62288" y="1389888"/>
            <a:ext cx="2834640" cy="5193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08008" y="1435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1A40"/>
                </a:solidFill>
              </a:rPr>
              <a:t>Packet Rate
(dist1, pkt/s)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63456" y="5274118"/>
            <a:ext cx="822960" cy="34029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460736" y="2211441"/>
            <a:ext cx="822960" cy="340297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63456" y="501808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0.059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63456" y="5650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55"/>
                </a:solidFill>
              </a:rPr>
              <a:t>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0736" y="1955409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0.59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0736" y="5650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55"/>
                </a:solidFill>
              </a:rPr>
              <a:t>SDN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82328" y="1920240"/>
            <a:ext cx="2148840" cy="292608"/>
          </a:xfrm>
          <a:prstGeom prst="rect">
            <a:avLst/>
          </a:prstGeom>
          <a:solidFill>
            <a:srgbClr val="E0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82328" y="1947672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955"/>
                </a:solidFill>
              </a:rPr>
              <a:t>↑ 10×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Observations &amp;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66928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669280" cy="384048"/>
          </a:xfrm>
          <a:prstGeom prst="rect">
            <a:avLst/>
          </a:prstGeom>
          <a:solidFill>
            <a:srgbClr val="00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143000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◉  Controller Placement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537667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K-Median minimized the maximum latency between any switch and its controller by placing controllers at the network's natural medians. dist1 and dist3 sit equidistant from both core and access layers — optimal for bidirectional control traffic.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66928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6692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143000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◉  DWRR Eliminates Hotspots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72768"/>
            <a:ext cx="537667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Dynamic weights prevented single-server saturation. The server pool (IPs .2/.3/.4, weights 3/2/1) distributed traffic proportionally to capacity. No bottlenecks observed under sustained iperf load — packet processing sustained at 0.59 pkt/s.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39311"/>
            <a:ext cx="566928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639311"/>
            <a:ext cx="5669280" cy="38404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368503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◉  Integrated &gt; Individual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537667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The 94.7% latency reduction + 144% throughput gain would not have been achievable with placement OR balancing alone. Controller placement reduced base RTT; DWRR maximized throughput utilization. The synergy between algorithms drove the result.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639311"/>
            <a:ext cx="566928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639311"/>
            <a:ext cx="5669280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368503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◉  SDN Transforms Legacy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537667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The same physical topology (10 switches, 8 hosts) produced dramatically different results purely through software-level optimization. No hardware upgrades. No new switches. Just smarter algorithms — validating SDN's core value proposition.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172200"/>
            <a:ext cx="11548872" cy="38404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19963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Key Insight: The integrated approach (placement + balancing) consistently outperforms individual optimization techniques — this is the core contribution of this project.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5623560" cy="138988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6400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4183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4D8"/>
                </a:solidFill>
              </a:rPr>
              <a:t>✔  Dual Optimization 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5303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DDFF"/>
                </a:solidFill>
              </a:rPr>
              <a:t>K-Median + DWRR together achieve what neither can alone — 94.7% latency drop + 144% throughput gain.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868680"/>
            <a:ext cx="5623560" cy="138988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868680"/>
            <a:ext cx="6400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94183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4D8"/>
                </a:solidFill>
              </a:rPr>
              <a:t>✔  Campus-Specific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303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DDFF"/>
                </a:solidFill>
              </a:rPr>
              <a:t>Purpose-built for 3-tier university topology with realistic academic traffic — not repurposed from data-center SDN.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5623560" cy="138988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31720"/>
            <a:ext cx="6400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40487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4D8"/>
                </a:solidFill>
              </a:rPr>
              <a:t>✔  Empirically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5303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DDFF"/>
                </a:solidFill>
              </a:rPr>
              <a:t>Controlled experiment: identical conditions, measured results — 6 metrics prove real-world performance improvement.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331720"/>
            <a:ext cx="5623560" cy="138988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331720"/>
            <a:ext cx="6400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40487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4D8"/>
                </a:solidFill>
              </a:rPr>
              <a:t>✔  Production-Ready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43200"/>
            <a:ext cx="5303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CCDDFF"/>
                </a:solidFill>
              </a:rPr>
              <a:t>Mininet + Ryu + OpenFlow 1.3 — the same tools used in real SDN deployments validate practical applicability.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9319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Future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279392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🤖  Reinforcement Learning for real-time adaptive controller placement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279392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🔮  LSTM-based traffic prediction for proactive resource allocation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873752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🛡  Multi-controller failover for 24/7 campus uptime &amp; fault tolerance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873752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🏗  Physical hardware testbed validation on Cisco/Aruba switches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468112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🌐  Scale to 50+ switches with IoT labs &amp; inter-building connectivity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468112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🔒  SDN-based DDoS detection integrated as Ryu application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062472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⚡  Energy-aware placement to reduce power consumption (EnPlace-style)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6062472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🔗  SD-WAN extension for inter-campus multi-site optimization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21792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749808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822959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[1] Belgaum et al., "Systematic Review of Load Balancing in SDN," IEEE Access, vol. 8, 2020.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72184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472184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545336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[2] Ouamri et al., "LB Optimization in SD-WAN using Deep RL (MADQN)," ISETC, 2022.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94560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194560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" y="2267712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[3] Maity et al., "Energy-aware Controller Placement for IoT in SDN (EnPlace)," 2023.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16936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916936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2990088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[4] Survey: Multi-Controller SDN — Static vs Dynamic Placement Strategies, 2022.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39312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639312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3712463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[5] Controller-Switch Association Strategies in Multi-Controller SDN — ILP approach.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61688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361688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" y="4434840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[6] DASM: Dynamic Association for Multi-Controller SDN LB (Hungarian + Nash Eq.).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84064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5084064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8" y="5157216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[7] SDN Techniques Survey — AI-based LB, publish/subscribe, switch migration methods.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806440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5806440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" y="5879592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[8] SDN Controller Comparison: NOX, POX, Beacon, Floodlight, Ryu, ODL, ONOS.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749808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749808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368" y="822959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[9] K-Means++ Clustering for SDN Controller Placement — Silhouette + Meeting Point.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472184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1472184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73368" y="1545336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[10] dSDN: Dynamic SDN Controllers for Large-Scale IoT Traffic (Aakanksha et al. 2023).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194560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2194560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73368" y="2267712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[11] LB Methods for QoS in SD-IoT Networks — Systematic Literature Review.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916936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63640" y="2916936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68" y="2990088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[12] Survey: Load Balancing, Routing, and Congestion Control in SDN.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639312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63640" y="3639312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73368" y="3712463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[13] SDN-Based IoT Security: DDoS Detection using SVMs in Mininet.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361688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63640" y="4361688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73368" y="4434840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[14] SDN Performance Enhancement for Real-Time Wireless IoT Networks.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5084064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63640" y="5084064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73368" y="5157216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[15] Load Balancing Algorithms in SDN: Rule-Based, Dynamic, Hybrid — Data Centers.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806440"/>
            <a:ext cx="5623560" cy="640080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63640" y="5806440"/>
            <a:ext cx="457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73368" y="5879592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[16] SDN + OpenStack Cloud Security Performance: OVS, IDS, NFV Integration.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6437376"/>
            <a:ext cx="11548872" cy="987552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6473952"/>
            <a:ext cx="11548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Thank You!  Questions?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6903720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EEFF"/>
                </a:solidFill>
              </a:rPr>
              <a:t>Dishitha Pakala  ·  Kennesaw State University  ·  MS Computer Science — Computer Networks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3623</Words>
  <Application>Microsoft Macintosh PowerPoint</Application>
  <PresentationFormat>Custom</PresentationFormat>
  <Paragraphs>628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dishitha reddy</cp:lastModifiedBy>
  <cp:revision>5</cp:revision>
  <dcterms:created xsi:type="dcterms:W3CDTF">2013-01-27T09:14:16Z</dcterms:created>
  <dcterms:modified xsi:type="dcterms:W3CDTF">2026-04-18T03:58:55Z</dcterms:modified>
  <cp:category/>
</cp:coreProperties>
</file>